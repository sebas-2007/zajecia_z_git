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12192000" cy="6858000"/>
  <p:embeddedFontLst>
    <p:embeddedFont>
      <p:font typeface="Poppins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Poppins Light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  <p:embeddedFont>
      <p:font typeface="Poppins Medium"/>
      <p:regular r:id="rId41"/>
      <p:bold r:id="rId42"/>
      <p:italic r:id="rId43"/>
      <p:boldItalic r:id="rId44"/>
    </p:embeddedFont>
    <p:embeddedFont>
      <p:font typeface="Poppins Black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674A9E-FC3F-418A-8CE5-A62B32BE8259}">
  <a:tblStyle styleId="{82674A9E-FC3F-418A-8CE5-A62B32BE82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4.xml"/><Relationship Id="rId42" Type="http://schemas.openxmlformats.org/officeDocument/2006/relationships/font" Target="fonts/PoppinsMedium-bold.fntdata"/><Relationship Id="rId41" Type="http://schemas.openxmlformats.org/officeDocument/2006/relationships/font" Target="fonts/PoppinsMedium-regular.fntdata"/><Relationship Id="rId22" Type="http://schemas.openxmlformats.org/officeDocument/2006/relationships/slide" Target="slides/slide16.xml"/><Relationship Id="rId44" Type="http://schemas.openxmlformats.org/officeDocument/2006/relationships/font" Target="fonts/PoppinsMedium-boldItalic.fntdata"/><Relationship Id="rId21" Type="http://schemas.openxmlformats.org/officeDocument/2006/relationships/slide" Target="slides/slide15.xml"/><Relationship Id="rId43" Type="http://schemas.openxmlformats.org/officeDocument/2006/relationships/font" Target="fonts/PoppinsMedium-italic.fntdata"/><Relationship Id="rId24" Type="http://schemas.openxmlformats.org/officeDocument/2006/relationships/slide" Target="slides/slide18.xml"/><Relationship Id="rId46" Type="http://schemas.openxmlformats.org/officeDocument/2006/relationships/font" Target="fonts/PoppinsBlack-boldItalic.fntdata"/><Relationship Id="rId23" Type="http://schemas.openxmlformats.org/officeDocument/2006/relationships/slide" Target="slides/slide17.xml"/><Relationship Id="rId45" Type="http://schemas.openxmlformats.org/officeDocument/2006/relationships/font" Target="fonts/Poppins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PoppinsLight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Light-italic.fntdata"/><Relationship Id="rId14" Type="http://schemas.openxmlformats.org/officeDocument/2006/relationships/slide" Target="slides/slide8.xml"/><Relationship Id="rId36" Type="http://schemas.openxmlformats.org/officeDocument/2006/relationships/font" Target="fonts/PoppinsLight-bold.fntdata"/><Relationship Id="rId17" Type="http://schemas.openxmlformats.org/officeDocument/2006/relationships/slide" Target="slides/slide11.xml"/><Relationship Id="rId39" Type="http://schemas.openxmlformats.org/officeDocument/2006/relationships/font" Target="fonts/Tahoma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f58ab794e_0_13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ef58ab794e_0_1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ef58ab794e_0_13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ef58ab794e_0_1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0" y="3567375"/>
            <a:ext cx="12192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2833950"/>
            <a:ext cx="121920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alibri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69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0" y="6262979"/>
            <a:ext cx="12192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b="0" i="0" sz="14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4217550" y="6707875"/>
            <a:ext cx="3756900" cy="15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ll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" y="1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32713" y="2274094"/>
            <a:ext cx="4054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0B32"/>
              </a:buClr>
              <a:buSzPts val="6000"/>
              <a:buFont typeface="Poppins Black"/>
              <a:buNone/>
            </a:pPr>
            <a:r>
              <a:rPr b="0" i="0" lang="en-US" sz="6000" u="none" cap="none" strike="noStrike">
                <a:solidFill>
                  <a:srgbClr val="F20B32"/>
                </a:solidFill>
                <a:latin typeface="Poppins Black"/>
                <a:ea typeface="Poppins Black"/>
                <a:cs typeface="Poppins Black"/>
                <a:sym typeface="Poppins Black"/>
              </a:rPr>
              <a:t>HELLO</a:t>
            </a:r>
            <a:endParaRPr b="0" i="0" sz="6000" u="none" cap="none" strike="noStrike">
              <a:solidFill>
                <a:srgbClr val="F20B32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19" name="Google Shape;19;p3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3"/>
          <p:cNvSpPr txBox="1"/>
          <p:nvPr/>
        </p:nvSpPr>
        <p:spPr>
          <a:xfrm>
            <a:off x="2480733" y="28194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606971" y="2862797"/>
            <a:ext cx="3585000" cy="3995100"/>
          </a:xfrm>
          <a:prstGeom prst="rect">
            <a:avLst/>
          </a:prstGeom>
          <a:solidFill>
            <a:srgbClr val="F20B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7592598" y="1980287"/>
            <a:ext cx="2880000" cy="2880000"/>
          </a:xfrm>
          <a:prstGeom prst="ellipse">
            <a:avLst/>
          </a:prstGeom>
          <a:solidFill>
            <a:srgbClr val="F20B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532725" y="3122175"/>
            <a:ext cx="6806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82800">
            <a:noAutofit/>
          </a:bodyPr>
          <a:lstStyle>
            <a:lvl1pPr lvl="0" marR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9B98"/>
              </a:buClr>
              <a:buSzPts val="3600"/>
              <a:buFont typeface="Noto Sans Symbols"/>
              <a:buNone/>
              <a:defRPr b="1" sz="3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615400" y="3765100"/>
            <a:ext cx="61716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Poppins Light"/>
              <a:buChar char="•"/>
              <a:defRPr sz="18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Poppins Light"/>
              <a:buChar char="•"/>
              <a:defRPr sz="14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921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oppins Light"/>
              <a:buChar char="•"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headline">
  <p:cSld name="CUSTOM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554063" y="2615373"/>
            <a:ext cx="795017" cy="672375"/>
            <a:chOff x="554063" y="2615373"/>
            <a:chExt cx="795017" cy="672375"/>
          </a:xfrm>
        </p:grpSpPr>
        <p:sp>
          <p:nvSpPr>
            <p:cNvPr id="30" name="Google Shape;30;p4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4"/>
          <p:cNvSpPr txBox="1"/>
          <p:nvPr/>
        </p:nvSpPr>
        <p:spPr>
          <a:xfrm>
            <a:off x="1" y="6412971"/>
            <a:ext cx="73554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b="0" i="0" sz="1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60330" r="0" t="0"/>
          <a:stretch/>
        </p:blipFill>
        <p:spPr>
          <a:xfrm>
            <a:off x="7355392" y="0"/>
            <a:ext cx="483660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3178" y="2529000"/>
            <a:ext cx="3321032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1471750" y="2729450"/>
            <a:ext cx="47511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723150" y="3419350"/>
            <a:ext cx="4998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-50 site">
  <p:cSld name="CUSTOM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60330" r="0" t="0"/>
          <a:stretch/>
        </p:blipFill>
        <p:spPr>
          <a:xfrm>
            <a:off x="6093599" y="0"/>
            <a:ext cx="6098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379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>
            <p:ph type="title"/>
          </p:nvPr>
        </p:nvSpPr>
        <p:spPr>
          <a:xfrm>
            <a:off x="385875" y="320475"/>
            <a:ext cx="560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000000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385875" y="1305050"/>
            <a:ext cx="4996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385875" y="1701350"/>
            <a:ext cx="4905300" cy="27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Poppins Light"/>
              <a:buChar char="•"/>
              <a:defRPr sz="1800"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Poppins Light"/>
              <a:buChar char="•"/>
              <a:defRPr sz="1400"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921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Poppins Light"/>
              <a:buChar char="•"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6581325" y="1305050"/>
            <a:ext cx="49968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body"/>
          </p:nvPr>
        </p:nvSpPr>
        <p:spPr>
          <a:xfrm>
            <a:off x="6581325" y="1701350"/>
            <a:ext cx="4939200" cy="27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Light"/>
              <a:buChar char="•"/>
              <a:def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•"/>
              <a:def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921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•"/>
              <a:defRPr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oppins Light"/>
              <a:buChar char="•"/>
              <a:defRPr sz="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CUSTOM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-1" y="1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grpSp>
        <p:nvGrpSpPr>
          <p:cNvPr id="49" name="Google Shape;49;p6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50" name="Google Shape;50;p6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1" type="body"/>
          </p:nvPr>
        </p:nvSpPr>
        <p:spPr>
          <a:xfrm>
            <a:off x="312750" y="1239900"/>
            <a:ext cx="11566500" cy="45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2921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7pPr>
            <a:lvl8pPr indent="-2921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8pPr>
            <a:lvl9pPr indent="-2921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ation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/>
          <p:nvPr/>
        </p:nvSpPr>
        <p:spPr>
          <a:xfrm>
            <a:off x="2493458" y="1231234"/>
            <a:ext cx="7205100" cy="4335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391942" y="4256569"/>
            <a:ext cx="1908000" cy="1908000"/>
          </a:xfrm>
          <a:prstGeom prst="ellipse">
            <a:avLst/>
          </a:prstGeom>
          <a:solidFill>
            <a:srgbClr val="F20B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69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0" y="6262979"/>
            <a:ext cx="121920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b="0" i="0" sz="14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6866" y="1946674"/>
            <a:ext cx="4119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/>
          <p:nvPr/>
        </p:nvSpPr>
        <p:spPr>
          <a:xfrm>
            <a:off x="4471172" y="4512414"/>
            <a:ext cx="4123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The author of the quote</a:t>
            </a:r>
            <a:endParaRPr b="1" i="0" sz="1800" u="none" cap="none" strike="noStrike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63" name="Google Shape;63;p7"/>
          <p:cNvGrpSpPr/>
          <p:nvPr/>
        </p:nvGrpSpPr>
        <p:grpSpPr>
          <a:xfrm>
            <a:off x="3783169" y="4591596"/>
            <a:ext cx="653045" cy="180000"/>
            <a:chOff x="3791636" y="4769396"/>
            <a:chExt cx="653045" cy="180000"/>
          </a:xfrm>
        </p:grpSpPr>
        <p:sp>
          <p:nvSpPr>
            <p:cNvPr id="64" name="Google Shape;64;p7"/>
            <p:cNvSpPr/>
            <p:nvPr/>
          </p:nvSpPr>
          <p:spPr>
            <a:xfrm>
              <a:off x="3791636" y="4769396"/>
              <a:ext cx="180000" cy="1800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4030905" y="4769396"/>
              <a:ext cx="180000" cy="180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264681" y="4769396"/>
              <a:ext cx="180000" cy="180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3678775" y="1946675"/>
            <a:ext cx="5565600" cy="25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1pPr>
            <a:lvl2pPr indent="-3937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  <a:defRPr sz="2600"/>
            </a:lvl2pPr>
            <a:lvl3pPr indent="-3683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200"/>
              <a:buChar char="•"/>
              <a:defRPr sz="22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7"/>
          <p:cNvSpPr/>
          <p:nvPr/>
        </p:nvSpPr>
        <p:spPr>
          <a:xfrm>
            <a:off x="4217550" y="6707875"/>
            <a:ext cx="3756900" cy="15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 - title only">
  <p:cSld name="CUSTOM_3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-1" y="1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grpSp>
        <p:nvGrpSpPr>
          <p:cNvPr id="72" name="Google Shape;72;p8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73" name="Google Shape;73;p8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- title only">
  <p:cSld name="CUSTOM_3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grpSp>
        <p:nvGrpSpPr>
          <p:cNvPr id="79" name="Google Shape;79;p9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80" name="Google Shape;80;p9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 on the right">
  <p:cSld name="CUSTOM_5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307432" y="254010"/>
            <a:ext cx="795017" cy="672375"/>
            <a:chOff x="554063" y="2615373"/>
            <a:chExt cx="795017" cy="672375"/>
          </a:xfrm>
        </p:grpSpPr>
        <p:sp>
          <p:nvSpPr>
            <p:cNvPr id="86" name="Google Shape;86;p10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0"/>
          <p:cNvSpPr txBox="1"/>
          <p:nvPr/>
        </p:nvSpPr>
        <p:spPr>
          <a:xfrm>
            <a:off x="1" y="6412971"/>
            <a:ext cx="73554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b="0" i="0" sz="1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0" name="Google Shape;90;p10"/>
          <p:cNvPicPr preferRelativeResize="0"/>
          <p:nvPr/>
        </p:nvPicPr>
        <p:blipFill rotWithShape="1">
          <a:blip r:embed="rId2">
            <a:alphaModFix/>
          </a:blip>
          <a:srcRect b="0" l="60330" r="38192" t="0"/>
          <a:stretch/>
        </p:blipFill>
        <p:spPr>
          <a:xfrm>
            <a:off x="7437773" y="0"/>
            <a:ext cx="17994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38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>
            <p:ph idx="1" type="subTitle"/>
          </p:nvPr>
        </p:nvSpPr>
        <p:spPr>
          <a:xfrm>
            <a:off x="1209725" y="1788575"/>
            <a:ext cx="49674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Font typeface="Poppins Black"/>
              <a:buNone/>
              <a:defRPr sz="3200"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2" type="body"/>
          </p:nvPr>
        </p:nvSpPr>
        <p:spPr>
          <a:xfrm>
            <a:off x="1209725" y="2912500"/>
            <a:ext cx="46053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79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4pPr>
            <a:lvl5pPr indent="-279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">
  <p:cSld name="CUSTOM_6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/>
          <p:nvPr/>
        </p:nvSpPr>
        <p:spPr>
          <a:xfrm>
            <a:off x="1079500" y="1805888"/>
            <a:ext cx="10032900" cy="3570600"/>
          </a:xfrm>
          <a:prstGeom prst="roundRect">
            <a:avLst>
              <a:gd fmla="val 445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5015999" y="1230647"/>
            <a:ext cx="2160000" cy="1080000"/>
          </a:xfrm>
          <a:prstGeom prst="roundRect">
            <a:avLst>
              <a:gd fmla="val 4458" name="adj"/>
            </a:avLst>
          </a:prstGeom>
          <a:solidFill>
            <a:srgbClr val="550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5741" y="1320647"/>
            <a:ext cx="1660515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>
            <a:off x="4217550" y="6707875"/>
            <a:ext cx="3756900" cy="15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2"/>
          <p:cNvSpPr txBox="1"/>
          <p:nvPr>
            <p:ph type="title"/>
          </p:nvPr>
        </p:nvSpPr>
        <p:spPr>
          <a:xfrm>
            <a:off x="3243300" y="2887450"/>
            <a:ext cx="5705400" cy="1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oppins"/>
              <a:buNone/>
              <a:defRPr b="1" sz="48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1079550" y="4794550"/>
            <a:ext cx="100329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75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2921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2pPr>
            <a:lvl3pPr indent="-2667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 sz="600"/>
            </a:lvl3pPr>
            <a:lvl4pPr indent="-2540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00"/>
              <a:buChar char="•"/>
              <a:defRPr sz="400"/>
            </a:lvl4pPr>
            <a:lvl5pPr indent="-2540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00"/>
              <a:buChar char="•"/>
              <a:defRPr sz="400"/>
            </a:lvl5pPr>
            <a:lvl6pPr indent="-254000" lvl="5" marL="2743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00"/>
              <a:buChar char="•"/>
              <a:defRPr sz="400"/>
            </a:lvl6pPr>
            <a:lvl7pPr indent="-254000" lvl="6" marL="3200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00"/>
              <a:buChar char="•"/>
              <a:defRPr sz="400"/>
            </a:lvl7pPr>
            <a:lvl8pPr indent="-254000" lvl="7" marL="3657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00"/>
              <a:buChar char="•"/>
              <a:defRPr sz="400"/>
            </a:lvl8pPr>
            <a:lvl9pPr indent="-254000" lvl="8" marL="4114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">
  <p:cSld name="CUSTOM_8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3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105" name="Google Shape;105;p13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25071" r="0" t="0"/>
          <a:stretch/>
        </p:blipFill>
        <p:spPr>
          <a:xfrm>
            <a:off x="3052561" y="0"/>
            <a:ext cx="91355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1895222" y="1348860"/>
            <a:ext cx="4664100" cy="4146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52400" rotWithShape="0" algn="tl" dir="2700000" dist="114300">
              <a:srgbClr val="000000">
                <a:alpha val="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900037" y="1348860"/>
            <a:ext cx="92700" cy="4146600"/>
          </a:xfrm>
          <a:prstGeom prst="roundRect">
            <a:avLst>
              <a:gd fmla="val 0" name="adj"/>
            </a:avLst>
          </a:prstGeom>
          <a:solidFill>
            <a:srgbClr val="5500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2781275" y="3171500"/>
            <a:ext cx="289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F20B3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845819" y="2784348"/>
            <a:ext cx="502919" cy="502920"/>
          </a:xfrm>
          <a:custGeom>
            <a:rect b="b" l="l" r="r" t="t"/>
            <a:pathLst>
              <a:path extrusionOk="0" h="502920" w="502919">
                <a:moveTo>
                  <a:pt x="251460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60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20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4736" y="2933700"/>
            <a:ext cx="214884" cy="21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615183"/>
            <a:ext cx="214884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4823" y="0"/>
            <a:ext cx="4837176" cy="6857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3775" y="2528316"/>
            <a:ext cx="3320797" cy="18013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/>
          <p:nvPr/>
        </p:nvSpPr>
        <p:spPr>
          <a:xfrm>
            <a:off x="845819" y="2784348"/>
            <a:ext cx="502919" cy="502920"/>
          </a:xfrm>
          <a:custGeom>
            <a:rect b="b" l="l" r="r" t="t"/>
            <a:pathLst>
              <a:path extrusionOk="0" h="502920" w="502919">
                <a:moveTo>
                  <a:pt x="251460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60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20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4736" y="2933700"/>
            <a:ext cx="214884" cy="21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615183"/>
            <a:ext cx="214884" cy="21640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>
            <p:ph type="title"/>
          </p:nvPr>
        </p:nvSpPr>
        <p:spPr>
          <a:xfrm>
            <a:off x="3439541" y="2814574"/>
            <a:ext cx="53130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778240" y="6377940"/>
            <a:ext cx="280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3439541" y="2814574"/>
            <a:ext cx="53130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444195" y="1108811"/>
            <a:ext cx="9211800" cy="41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25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spcBef>
                <a:spcPts val="500"/>
              </a:spcBef>
              <a:spcAft>
                <a:spcPts val="0"/>
              </a:spcAft>
              <a:buSzPts val="2100"/>
              <a:buNone/>
              <a:defRPr/>
            </a:lvl2pPr>
            <a:lvl3pPr indent="-228600" lvl="2" marL="1371600" rtl="0" algn="l">
              <a:spcBef>
                <a:spcPts val="500"/>
              </a:spcBef>
              <a:spcAft>
                <a:spcPts val="0"/>
              </a:spcAft>
              <a:buSzPts val="1700"/>
              <a:buNone/>
              <a:defRPr/>
            </a:lvl3pPr>
            <a:lvl4pPr indent="-228600" lvl="3" marL="1828800" rtl="0" algn="l"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rtl="0" algn="l"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5pPr>
            <a:lvl6pPr indent="-228600" lvl="5" marL="2743200" rtl="0" algn="l"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6pPr>
            <a:lvl7pPr indent="-228600" lvl="6" marL="3200400" rtl="0" algn="l"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7pPr>
            <a:lvl8pPr indent="-228600" lvl="7" marL="3657600" rtl="0" algn="l"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8pPr>
            <a:lvl9pPr indent="-228600" lvl="8" marL="4114800" rtl="0" algn="l"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8778240" y="6377940"/>
            <a:ext cx="280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778240" y="6377940"/>
            <a:ext cx="2804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 Medium"/>
              <a:buNone/>
              <a:defRPr b="0" i="0" sz="44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b="0" i="0" sz="18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Light"/>
              <a:buChar char="•"/>
              <a:defRPr b="0" i="0" sz="2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 Light"/>
              <a:buChar char="•"/>
              <a:defRPr b="0" i="0" sz="21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•"/>
              <a:defRPr b="0" i="0" sz="17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https://pypi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https://virtualenv.pypa.io/en/latest/" TargetMode="External"/><Relationship Id="rId6" Type="http://schemas.openxmlformats.org/officeDocument/2006/relationships/hyperlink" Target="https://www.jetbrains.com/help/pycharm/creating-virtual-environment.html" TargetMode="External"/><Relationship Id="rId7" Type="http://schemas.openxmlformats.org/officeDocument/2006/relationships/hyperlink" Target="https://docs.conda.io/en/latest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hyperlink" Target="https://github.com/pyenv/pyenv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https://realpython.com/intro-to-pyenv/" TargetMode="External"/><Relationship Id="rId6" Type="http://schemas.openxmlformats.org/officeDocument/2006/relationships/hyperlink" Target="https://www.youtube.com/watch?v=3my06DUnApM" TargetMode="External"/><Relationship Id="rId7" Type="http://schemas.openxmlformats.org/officeDocument/2006/relationships/hyperlink" Target="https://python-poetry.org/" TargetMode="External"/><Relationship Id="rId8" Type="http://schemas.openxmlformats.org/officeDocument/2006/relationships/hyperlink" Target="https://www.youtube.com/watch?v=V5rKVrVhEh8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ctrTitle"/>
          </p:nvPr>
        </p:nvSpPr>
        <p:spPr>
          <a:xfrm>
            <a:off x="0" y="2833950"/>
            <a:ext cx="12192000" cy="828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pip / wirtualne środowiska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1521728" y="2807600"/>
            <a:ext cx="544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Menadżer pakietów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2598166" y="6494779"/>
            <a:ext cx="21583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Lucida Sans"/>
                <a:ea typeface="Lucida Sans"/>
                <a:cs typeface="Lucida Sans"/>
                <a:sym typeface="Lucida Sans"/>
              </a:rPr>
              <a:t>infoShareAcademy.com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7354823" y="0"/>
            <a:ext cx="4837176" cy="6857997"/>
            <a:chOff x="7354823" y="0"/>
            <a:chExt cx="4837176" cy="6857997"/>
          </a:xfrm>
        </p:grpSpPr>
        <p:pic>
          <p:nvPicPr>
            <p:cNvPr id="148" name="Google Shape;14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Menadżer pakietów</a:t>
            </a:r>
            <a:endParaRPr sz="3200"/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19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157" name="Google Shape;157;p19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8" name="Google Shape;15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9"/>
          <p:cNvSpPr txBox="1"/>
          <p:nvPr/>
        </p:nvSpPr>
        <p:spPr>
          <a:xfrm>
            <a:off x="391464" y="1332737"/>
            <a:ext cx="105912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Każda aplikacja napisana w języku Python potrzebuje  dodatkowych modułów do swojego działania. Takie moduły  nazywamy pakietami (</a:t>
            </a:r>
            <a:r>
              <a:rPr i="1" lang="en-US" sz="2800">
                <a:latin typeface="Poppins"/>
                <a:ea typeface="Poppins"/>
                <a:cs typeface="Poppins"/>
                <a:sym typeface="Poppins"/>
              </a:rPr>
              <a:t>ang. packages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Jeżeli budujemy lokalnie pakiety to Python tworzy katalog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docelowy dla nich nazywany </a:t>
            </a:r>
            <a:r>
              <a:rPr b="1" i="1" lang="en-US" sz="2800">
                <a:latin typeface="Poppins"/>
                <a:ea typeface="Poppins"/>
                <a:cs typeface="Poppins"/>
                <a:sym typeface="Poppins"/>
              </a:rPr>
              <a:t>site-packages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Menadżer pakietów</a:t>
            </a:r>
            <a:endParaRPr sz="3200"/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0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167" name="Google Shape;167;p20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68" name="Google Shape;16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20"/>
          <p:cNvSpPr txBox="1"/>
          <p:nvPr/>
        </p:nvSpPr>
        <p:spPr>
          <a:xfrm>
            <a:off x="391464" y="1332737"/>
            <a:ext cx="11403300" cy="30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Według oficjalnej dokumentacji: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24765" marR="6350" rtl="0" algn="l">
              <a:lnSpc>
                <a:spcPct val="242083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site-packages is the </a:t>
            </a:r>
            <a:r>
              <a:rPr b="1" i="1"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target directory </a:t>
            </a:r>
            <a:r>
              <a:rPr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of manually built	Python packages.  When you build and install Python packages from	source (using </a:t>
            </a:r>
            <a:r>
              <a:rPr i="1"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distutils</a:t>
            </a:r>
            <a:r>
              <a:rPr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24765" marR="0" rtl="0" algn="l">
              <a:lnSpc>
                <a:spcPct val="9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probably by executing python	setup.py install), you will find the </a:t>
            </a:r>
            <a:r>
              <a:rPr b="1"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installed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2476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32729"/>
                </a:solidFill>
                <a:latin typeface="Poppins"/>
                <a:ea typeface="Poppins"/>
                <a:cs typeface="Poppins"/>
                <a:sym typeface="Poppins"/>
              </a:rPr>
              <a:t>modules in site-packages by default.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Menadżer pakietów</a:t>
            </a:r>
            <a:endParaRPr sz="3200"/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1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177" name="Google Shape;177;p21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78" name="Google Shape;178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1"/>
          <p:cNvSpPr txBox="1"/>
          <p:nvPr/>
        </p:nvSpPr>
        <p:spPr>
          <a:xfrm>
            <a:off x="391464" y="1332737"/>
            <a:ext cx="110967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Pakiety umieszaczane są w repozytoriach z których możemy je  popierać za pomocą narzędzia </a:t>
            </a: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pip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, które najczęściej jest  instalowane razem z Pythonem</a:t>
            </a: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Najpopularniejszym repozytorium pakietów jest: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b="1" i="1" lang="en-US" sz="2800">
                <a:latin typeface="Poppins"/>
                <a:ea typeface="Poppins"/>
                <a:cs typeface="Poppins"/>
                <a:sym typeface="Poppins"/>
              </a:rPr>
              <a:t>Python Package Index 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(w skrócie PyPI) dostępne </a:t>
            </a:r>
            <a:r>
              <a:rPr lang="en-US" sz="28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tutaj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845819" y="2784348"/>
            <a:ext cx="502920" cy="502920"/>
          </a:xfrm>
          <a:custGeom>
            <a:rect b="b" l="l" r="r" t="t"/>
            <a:pathLst>
              <a:path extrusionOk="0" h="502920" w="502919">
                <a:moveTo>
                  <a:pt x="251460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60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20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736" y="2933700"/>
            <a:ext cx="214884" cy="21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615183"/>
            <a:ext cx="214884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22"/>
          <p:cNvGrpSpPr/>
          <p:nvPr/>
        </p:nvGrpSpPr>
        <p:grpSpPr>
          <a:xfrm>
            <a:off x="7354823" y="0"/>
            <a:ext cx="4837176" cy="6857997"/>
            <a:chOff x="7354823" y="0"/>
            <a:chExt cx="4837176" cy="6857997"/>
          </a:xfrm>
        </p:grpSpPr>
        <p:pic>
          <p:nvPicPr>
            <p:cNvPr id="188" name="Google Shape;188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2"/>
          <p:cNvSpPr/>
          <p:nvPr/>
        </p:nvSpPr>
        <p:spPr>
          <a:xfrm>
            <a:off x="845819" y="2784348"/>
            <a:ext cx="502920" cy="502920"/>
          </a:xfrm>
          <a:custGeom>
            <a:rect b="b" l="l" r="r" t="t"/>
            <a:pathLst>
              <a:path extrusionOk="0" h="502920" w="502919">
                <a:moveTo>
                  <a:pt x="251460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60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20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736" y="2933700"/>
            <a:ext cx="214884" cy="21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615183"/>
            <a:ext cx="214884" cy="21640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521751" y="2807600"/>
            <a:ext cx="2158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PIP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2598166" y="6494779"/>
            <a:ext cx="21583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Lucida Sans"/>
                <a:ea typeface="Lucida Sans"/>
                <a:cs typeface="Lucida Sans"/>
                <a:sym typeface="Lucida Sans"/>
              </a:rPr>
              <a:t>infoShareAcademy.com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95" name="Google Shape;195;p22"/>
          <p:cNvGrpSpPr/>
          <p:nvPr/>
        </p:nvGrpSpPr>
        <p:grpSpPr>
          <a:xfrm>
            <a:off x="7354823" y="0"/>
            <a:ext cx="4837176" cy="6857997"/>
            <a:chOff x="7354823" y="0"/>
            <a:chExt cx="4837176" cy="6857997"/>
          </a:xfrm>
        </p:grpSpPr>
        <p:pic>
          <p:nvPicPr>
            <p:cNvPr id="196" name="Google Shape;196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/>
          <p:nvPr/>
        </p:nvSpPr>
        <p:spPr>
          <a:xfrm>
            <a:off x="533400" y="371856"/>
            <a:ext cx="502920" cy="502920"/>
          </a:xfrm>
          <a:custGeom>
            <a:rect b="b" l="l" r="r" t="t"/>
            <a:pathLst>
              <a:path extrusionOk="0" h="502919" w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20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856" y="202692"/>
            <a:ext cx="216408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0131" y="5777483"/>
            <a:ext cx="1991868" cy="108051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1189124" y="401575"/>
            <a:ext cx="1526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PIP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3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10" name="Google Shape;210;p23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1" name="Google Shape;211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12" name="Google Shape;212;p23"/>
          <p:cNvGraphicFramePr/>
          <p:nvPr/>
        </p:nvGraphicFramePr>
        <p:xfrm>
          <a:off x="444195" y="11088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{82674A9E-FC3F-418A-8CE5-A62B32BE8259}</a:tableStyleId>
              </a:tblPr>
              <a:tblGrid>
                <a:gridCol w="3853175"/>
                <a:gridCol w="4520575"/>
              </a:tblGrid>
              <a:tr h="31972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help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3975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Ogólna pomoc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9525" marB="0" marR="0" marL="0"/>
                </a:tc>
              </a:tr>
              <a:tr h="3904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help &lt;polecenie&gt;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Pomoc dotycząca danego polecenia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list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3825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Lista zainstalowanych pakietów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58565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search &lt;pakiet&gt;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Szukanie pakietu w repyzorium online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5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&lt;pakiet&gt;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9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Instalowanie modułu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450" marB="0" marR="0" marL="0"/>
                </a:tc>
              </a:tr>
              <a:tr h="3901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&lt;pakiet&gt;==&lt;wersja&gt;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Instalowanie modułu o podanej wersji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--user &lt;pakiet&gt;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Instalowanie modułu lokalnie (bez sudo)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–o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3825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Wyświetlenie nieaktualnych pakietów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5856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-U &lt;pakiet&gt;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Aktualizacja pakietu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5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freeze &gt; &lt;plik&gt;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9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Zapisanie informacji na temat pakietów do pliku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450" marB="0" marR="0" marL="0"/>
                </a:tc>
              </a:tr>
              <a:tr h="39012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–r &lt;plik&gt;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Instalowanie pakietów według listy z pliku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2015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download &lt;pakiet&gt; -d &lt;katalog&gt;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Pobierz pakiet do wskazanego katalogu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/>
          <p:nvPr/>
        </p:nvSpPr>
        <p:spPr>
          <a:xfrm>
            <a:off x="533400" y="371856"/>
            <a:ext cx="502920" cy="502920"/>
          </a:xfrm>
          <a:custGeom>
            <a:rect b="b" l="l" r="r" t="t"/>
            <a:pathLst>
              <a:path extrusionOk="0" h="502919" w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20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19" name="Google Shape;2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856" y="202692"/>
            <a:ext cx="216408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0131" y="5777483"/>
            <a:ext cx="1991868" cy="108051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1189124" y="401575"/>
            <a:ext cx="1567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PIP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24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25" name="Google Shape;225;p24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6" name="Google Shape;226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24"/>
          <p:cNvSpPr txBox="1"/>
          <p:nvPr>
            <p:ph type="title"/>
          </p:nvPr>
        </p:nvSpPr>
        <p:spPr>
          <a:xfrm>
            <a:off x="1036325" y="1692225"/>
            <a:ext cx="102435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/>
              <a:t>W przypadku korzystania z PyCharm możemy instalować  moduły również podczas pracy z kodem.</a:t>
            </a:r>
            <a:endParaRPr sz="2800"/>
          </a:p>
          <a:p>
            <a:pPr indent="0" lvl="0" marL="1270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b="0" lang="en-US" sz="2800"/>
              <a:t>Wystarczy nacisnąć </a:t>
            </a:r>
            <a:r>
              <a:rPr i="1" lang="en-US" sz="2800">
                <a:solidFill>
                  <a:srgbClr val="007B7C"/>
                </a:solidFill>
              </a:rPr>
              <a:t>Alt + Shift + Enter</a:t>
            </a:r>
            <a:endParaRPr sz="2800"/>
          </a:p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04944" y="3332988"/>
            <a:ext cx="6848856" cy="167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PIP</a:t>
            </a:r>
            <a:endParaRPr sz="3200"/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5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36" name="Google Shape;236;p25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7" name="Google Shape;23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25"/>
          <p:cNvSpPr txBox="1"/>
          <p:nvPr/>
        </p:nvSpPr>
        <p:spPr>
          <a:xfrm>
            <a:off x="391464" y="1250188"/>
            <a:ext cx="102852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Poppins"/>
                <a:ea typeface="Poppins"/>
                <a:cs typeface="Poppins"/>
                <a:sym typeface="Poppins"/>
              </a:rPr>
              <a:t>Możemy również instalować pakiety wewnątrz naszego projektu.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007B7C"/>
                </a:solidFill>
                <a:latin typeface="Poppins"/>
                <a:ea typeface="Poppins"/>
                <a:cs typeface="Poppins"/>
                <a:sym typeface="Poppins"/>
              </a:rPr>
              <a:t>1. Przechodzimy do File -&gt; Settings -&gt; Project -&gt; Project interpreter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3823" y="2319527"/>
            <a:ext cx="5864352" cy="4355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/>
          <p:nvPr/>
        </p:nvSpPr>
        <p:spPr>
          <a:xfrm>
            <a:off x="533400" y="371856"/>
            <a:ext cx="502920" cy="502920"/>
          </a:xfrm>
          <a:custGeom>
            <a:rect b="b" l="l" r="r" t="t"/>
            <a:pathLst>
              <a:path extrusionOk="0" h="502919" w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20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6" name="Google Shape;2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856" y="202692"/>
            <a:ext cx="216408" cy="216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0131" y="5777483"/>
            <a:ext cx="1991868" cy="108051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1189124" y="401575"/>
            <a:ext cx="1554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PIP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26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52" name="Google Shape;252;p26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3" name="Google Shape;25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" name="Google Shape;254;p26"/>
          <p:cNvSpPr txBox="1"/>
          <p:nvPr>
            <p:ph type="title"/>
          </p:nvPr>
        </p:nvSpPr>
        <p:spPr>
          <a:xfrm>
            <a:off x="1036325" y="1591375"/>
            <a:ext cx="10243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7B7C"/>
                </a:solidFill>
              </a:rPr>
              <a:t>2. Korzystamy z zakładki „Python packages”</a:t>
            </a:r>
            <a:endParaRPr sz="2400"/>
          </a:p>
        </p:txBody>
      </p:sp>
      <p:grpSp>
        <p:nvGrpSpPr>
          <p:cNvPr id="255" name="Google Shape;255;p26"/>
          <p:cNvGrpSpPr/>
          <p:nvPr/>
        </p:nvGrpSpPr>
        <p:grpSpPr>
          <a:xfrm>
            <a:off x="2108454" y="2049779"/>
            <a:ext cx="7972805" cy="4437888"/>
            <a:chOff x="2108454" y="2049779"/>
            <a:chExt cx="7972805" cy="4437888"/>
          </a:xfrm>
        </p:grpSpPr>
        <p:pic>
          <p:nvPicPr>
            <p:cNvPr id="256" name="Google Shape;256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10740" y="2049779"/>
              <a:ext cx="7970519" cy="4437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6"/>
            <p:cNvSpPr/>
            <p:nvPr/>
          </p:nvSpPr>
          <p:spPr>
            <a:xfrm>
              <a:off x="2108454" y="5144261"/>
              <a:ext cx="257810" cy="279400"/>
            </a:xfrm>
            <a:custGeom>
              <a:rect b="b" l="l" r="r" t="t"/>
              <a:pathLst>
                <a:path extrusionOk="0" h="279400" w="257810">
                  <a:moveTo>
                    <a:pt x="0" y="278891"/>
                  </a:moveTo>
                  <a:lnTo>
                    <a:pt x="257556" y="278891"/>
                  </a:lnTo>
                  <a:lnTo>
                    <a:pt x="257556" y="0"/>
                  </a:lnTo>
                  <a:lnTo>
                    <a:pt x="0" y="0"/>
                  </a:lnTo>
                  <a:lnTo>
                    <a:pt x="0" y="278891"/>
                  </a:lnTo>
                  <a:close/>
                </a:path>
              </a:pathLst>
            </a:custGeom>
            <a:noFill/>
            <a:ln cap="flat" cmpd="sng" w="25400">
              <a:solidFill>
                <a:srgbClr val="00F8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PIP</a:t>
            </a:r>
            <a:endParaRPr sz="3200"/>
          </a:p>
        </p:txBody>
      </p:sp>
      <p:pic>
        <p:nvPicPr>
          <p:cNvPr id="263" name="Google Shape;2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7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65" name="Google Shape;265;p27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6" name="Google Shape;26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27"/>
          <p:cNvSpPr txBox="1"/>
          <p:nvPr/>
        </p:nvSpPr>
        <p:spPr>
          <a:xfrm>
            <a:off x="391464" y="1351026"/>
            <a:ext cx="10846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Skoro menadżer pakietów jest instalowany z każdym Pythonem, to możemy przenosić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nasze pakiety (czyli instalować offline).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7B7C"/>
                </a:solidFill>
                <a:latin typeface="Poppins"/>
                <a:ea typeface="Poppins"/>
                <a:cs typeface="Poppins"/>
                <a:sym typeface="Poppins"/>
              </a:rPr>
              <a:t>W tym celu należy: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68" name="Google Shape;268;p27"/>
          <p:cNvGraphicFramePr/>
          <p:nvPr/>
        </p:nvGraphicFramePr>
        <p:xfrm>
          <a:off x="336295" y="2535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{82674A9E-FC3F-418A-8CE5-A62B32BE8259}</a:tableStyleId>
              </a:tblPr>
              <a:tblGrid>
                <a:gridCol w="5102225"/>
                <a:gridCol w="4252600"/>
              </a:tblGrid>
              <a:tr h="3103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mkdir &lt;katalog&gt;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2075" marB="0" marR="0" marL="0"/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Tworzymy katalog na pakiety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9525" marB="0" marR="0" marL="0"/>
                </a:tc>
              </a:tr>
              <a:tr h="370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download –r requirements.txt -d &lt;katalog&gt;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3025" marB="0" marR="0" marL="0"/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Pobieramy pakiety do wskazanego katalogu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  <a:tr h="3709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cp requirements.txt &lt;katalog&gt;/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3025" marB="0" marR="0" marL="0"/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Kopiujemy listę pakietów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  <a:tr h="3488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tar –czvg &lt;archiwum.tar&gt; &lt;katalog&gt;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3025" marB="0" marR="0" marL="0"/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Tworzymy archiwum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  <a:tr h="436775">
                <a:tc gridSpan="2"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79051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Przenosimy katalog na inną maszynę (najlepiej bez internetu).</a:t>
                      </a:r>
                      <a:endParaRPr sz="20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51425" marB="0" marR="0" marL="0"/>
                </a:tc>
                <a:tc hMerge="1"/>
              </a:tr>
              <a:tr h="34485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tar –xzvf &lt;archiwum.tar&gt;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600" marB="0" marR="0" marL="0"/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Wypakowujemy folder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51425" marB="0" marR="0" marL="0"/>
                </a:tc>
              </a:tr>
              <a:tr h="4872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 install –r &lt;katalog&gt;/requirements.txt \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–-no-index –find-links &lt;nazwa_katalogu&gt;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0" marR="0" marL="0"/>
                </a:tc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Zainstaluj pakiety online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15112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1521727" y="2807600"/>
            <a:ext cx="5610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Środowiska wirtualne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2598166" y="6494779"/>
            <a:ext cx="21583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Lucida Sans"/>
                <a:ea typeface="Lucida Sans"/>
                <a:cs typeface="Lucida Sans"/>
                <a:sym typeface="Lucida Sans"/>
              </a:rPr>
              <a:t>infoShareAcademy.com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75" name="Google Shape;275;p28"/>
          <p:cNvGrpSpPr/>
          <p:nvPr/>
        </p:nvGrpSpPr>
        <p:grpSpPr>
          <a:xfrm>
            <a:off x="7354823" y="0"/>
            <a:ext cx="4837176" cy="6857997"/>
            <a:chOff x="7354823" y="0"/>
            <a:chExt cx="4837176" cy="6857997"/>
          </a:xfrm>
        </p:grpSpPr>
        <p:pic>
          <p:nvPicPr>
            <p:cNvPr id="276" name="Google Shape;27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Środowiska wirtualne</a:t>
            </a:r>
            <a:endParaRPr sz="3200"/>
          </a:p>
        </p:txBody>
      </p:sp>
      <p:pic>
        <p:nvPicPr>
          <p:cNvPr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9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85" name="Google Shape;285;p29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29"/>
          <p:cNvSpPr txBox="1"/>
          <p:nvPr/>
        </p:nvSpPr>
        <p:spPr>
          <a:xfrm>
            <a:off x="391464" y="1341882"/>
            <a:ext cx="109983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127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Środowiska wirtualne pozwalają nam na uruchomienie równolegle wielu  projektów jednocześnie, gdzie każdy z nich będzie posiadał swój zestaw  pakietów/modułów.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Do najpopularniejszych narzędzi środowisk wirtualnych należą: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4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virtualenv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(domyślny dla Pythona)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4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venv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(rozwiązane JetBrains)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4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conda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(rozwiązanie od Anaconda)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Środowiska wirtualne</a:t>
            </a:r>
            <a:endParaRPr sz="3200"/>
          </a:p>
        </p:txBody>
      </p:sp>
      <p:pic>
        <p:nvPicPr>
          <p:cNvPr id="293" name="Google Shape;2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30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295" name="Google Shape;295;p30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6" name="Google Shape;296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97" name="Google Shape;297;p30"/>
          <p:cNvGraphicFramePr/>
          <p:nvPr/>
        </p:nvGraphicFramePr>
        <p:xfrm>
          <a:off x="444195" y="13385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{82674A9E-FC3F-418A-8CE5-A62B32BE8259}</a:tableStyleId>
              </a:tblPr>
              <a:tblGrid>
                <a:gridCol w="4657725"/>
                <a:gridCol w="4387850"/>
              </a:tblGrid>
              <a:tr h="3103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python –m pip install –-user virtualenv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3975" marB="0" marR="0" marL="0"/>
                </a:tc>
                <a:tc>
                  <a:txBody>
                    <a:bodyPr/>
                    <a:lstStyle/>
                    <a:p>
                      <a:pPr indent="0" lvl="0" marL="3759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Ogólna pomoc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9525" marB="0" marR="0" marL="0"/>
                </a:tc>
              </a:tr>
              <a:tr h="3709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pythom –m virtualenv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4300" marB="0" marR="0" marL="0"/>
                </a:tc>
                <a:tc>
                  <a:txBody>
                    <a:bodyPr/>
                    <a:lstStyle/>
                    <a:p>
                      <a:pPr indent="0" lvl="0" marL="3759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Weryfikacja działania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  <a:tr h="3713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python –m virtualenv –-help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4300" marB="0" marR="0" marL="0"/>
                </a:tc>
                <a:tc>
                  <a:txBody>
                    <a:bodyPr/>
                    <a:lstStyle/>
                    <a:p>
                      <a:pPr indent="0" lvl="0" marL="3759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Wyświetlenie pomocy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  <a:tr h="556475">
                <a:tc gridSpan="2"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Virtualenv powinno być widoczne jako polecenie terminala == można pominąć </a:t>
                      </a:r>
                      <a:r>
                        <a:rPr b="1" lang="en-US" sz="1400" u="none" cap="none" strike="noStrike">
                          <a:solidFill>
                            <a:srgbClr val="2A007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python -m</a:t>
                      </a:r>
                      <a:endParaRPr sz="14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0475" marB="0" marR="0" marL="0"/>
                </a:tc>
                <a:tc hMerge="1"/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virtualenv &lt;ścieżka/do/katalogu&gt;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1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759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Tworzenie środowiska w podanym katalogu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350" marB="0" marR="0" marL="0"/>
                </a:tc>
              </a:tr>
              <a:tr h="3709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&lt;katalog_z_venv&gt;/bin/activate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4300" marB="0" marR="0" marL="0"/>
                </a:tc>
                <a:tc>
                  <a:txBody>
                    <a:bodyPr/>
                    <a:lstStyle/>
                    <a:p>
                      <a:pPr indent="0" lvl="0" marL="3759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Aktywacja środowiska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  <a:tr h="3103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deactivate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4300" marB="0" marR="0" marL="0"/>
                </a:tc>
                <a:tc>
                  <a:txBody>
                    <a:bodyPr/>
                    <a:lstStyle/>
                    <a:p>
                      <a:pPr indent="0" lvl="0" marL="3759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Deaktywacja środowiska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6985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/>
          <p:nvPr>
            <p:ph type="title"/>
          </p:nvPr>
        </p:nvSpPr>
        <p:spPr>
          <a:xfrm>
            <a:off x="1521735" y="2807600"/>
            <a:ext cx="2469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Poppins"/>
                <a:ea typeface="Poppins"/>
                <a:cs typeface="Poppins"/>
                <a:sym typeface="Poppins"/>
              </a:rPr>
              <a:t>Pyenv</a:t>
            </a:r>
            <a:endParaRPr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2598166" y="6494779"/>
            <a:ext cx="21583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Lucida Sans"/>
                <a:ea typeface="Lucida Sans"/>
                <a:cs typeface="Lucida Sans"/>
                <a:sym typeface="Lucida Sans"/>
              </a:rPr>
              <a:t>infoShareAcademy.com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304" name="Google Shape;304;p31"/>
          <p:cNvGrpSpPr/>
          <p:nvPr/>
        </p:nvGrpSpPr>
        <p:grpSpPr>
          <a:xfrm>
            <a:off x="7354823" y="0"/>
            <a:ext cx="4837176" cy="6857997"/>
            <a:chOff x="7354823" y="0"/>
            <a:chExt cx="4837176" cy="6857997"/>
          </a:xfrm>
        </p:grpSpPr>
        <p:pic>
          <p:nvPicPr>
            <p:cNvPr id="305" name="Google Shape;30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Pyenv</a:t>
            </a:r>
            <a:endParaRPr sz="3200"/>
          </a:p>
        </p:txBody>
      </p:sp>
      <p:pic>
        <p:nvPicPr>
          <p:cNvPr id="312" name="Google Shape;3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2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314" name="Google Shape;314;p32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15" name="Google Shape;315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6" name="Google Shape;31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979" y="5222747"/>
            <a:ext cx="779526" cy="64084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2"/>
          <p:cNvSpPr txBox="1"/>
          <p:nvPr/>
        </p:nvSpPr>
        <p:spPr>
          <a:xfrm>
            <a:off x="391464" y="1314450"/>
            <a:ext cx="11410200" cy="46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12700" marR="6350" rtl="0" algn="just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Pyenv to narzędzie pozwalają nie tylko na zarządzanie pakietami, ale  również wersjami Pythona dostępnymi na naszej maszynie! Jego pełna  nazwa to: </a:t>
            </a:r>
            <a:r>
              <a:rPr i="1" lang="en-US" sz="2400">
                <a:solidFill>
                  <a:srgbClr val="007B7C"/>
                </a:solidFill>
                <a:latin typeface="Poppins"/>
                <a:ea typeface="Poppins"/>
                <a:cs typeface="Poppins"/>
                <a:sym typeface="Poppins"/>
              </a:rPr>
              <a:t>Simple Python Version Management.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5715" rtl="0" algn="just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Narzędzie ustawia wersje Pythona dostępną w systemie jaką globalną  (nie zmieniać!), natomiast użytkownik może w każdej chwili ustawić w  wybranym miejscu wersje lokalną.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just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Więcej  informacji  możemy  znaleźć  w repozytorium  </a:t>
            </a:r>
            <a:r>
              <a:rPr lang="en-US" sz="24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r>
              <a:rPr lang="en-US" sz="2400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(tak  – to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just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narzędzie open source!)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2545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A007D"/>
                </a:solidFill>
                <a:latin typeface="Poppins"/>
                <a:ea typeface="Poppins"/>
                <a:cs typeface="Poppins"/>
                <a:sym typeface="Poppins"/>
              </a:rPr>
              <a:t>Pyenv jest dostępny tylko dla systemów Linux/MacOS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Pyenv</a:t>
            </a:r>
            <a:endParaRPr sz="3200"/>
          </a:p>
        </p:txBody>
      </p:sp>
      <p:pic>
        <p:nvPicPr>
          <p:cNvPr id="323" name="Google Shape;3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33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325" name="Google Shape;325;p33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26" name="Google Shape;326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27" name="Google Shape;327;p33"/>
          <p:cNvGraphicFramePr/>
          <p:nvPr/>
        </p:nvGraphicFramePr>
        <p:xfrm>
          <a:off x="444195" y="11088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{82674A9E-FC3F-418A-8CE5-A62B32BE8259}</a:tableStyleId>
              </a:tblPr>
              <a:tblGrid>
                <a:gridCol w="4309100"/>
                <a:gridCol w="4902825"/>
              </a:tblGrid>
              <a:tr h="31972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install -l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3975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Lista dostępnych wersji Pythona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9525" marB="0" marR="0" marL="0"/>
                </a:tc>
              </a:tr>
              <a:tr h="3904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install &lt;wersja&gt; &amp; pyenv rehash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Instalacja wskazanej wersji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versions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3825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Wyświetl dostępne wersje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5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local &lt;wersja&gt;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Ustawienie wersji lokalnej Pythona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58565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local –unset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Deaktywacja wersji lokalnej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58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peynv virtualenvs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9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Lista środowisk wirtualnych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450" marB="0" marR="0" marL="0"/>
                </a:tc>
              </a:tr>
              <a:tr h="39047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virtualenv &lt;wersja&gt; &lt;nazwa&gt;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Stworzenie środowiska dla wybranej wersji Pythona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0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activate &lt;nazwa&gt;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3825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Aktywacja danego środowiska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90450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deactivate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Deaktywacja środowiska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  <a:tr h="320025"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2A007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pyenv unistall &lt;nazwa&gt;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4450" marB="0" marR="0" marL="0"/>
                </a:tc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Usunięcie środowiska</a:t>
                      </a:r>
                      <a:endParaRPr sz="14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793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/>
          <p:nvPr/>
        </p:nvSpPr>
        <p:spPr>
          <a:xfrm>
            <a:off x="845819" y="2784348"/>
            <a:ext cx="502920" cy="502920"/>
          </a:xfrm>
          <a:custGeom>
            <a:rect b="b" l="l" r="r" t="t"/>
            <a:pathLst>
              <a:path extrusionOk="0" h="502920" w="502919">
                <a:moveTo>
                  <a:pt x="251460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60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20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F10A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33" name="Google Shape;3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736" y="2933700"/>
            <a:ext cx="214884" cy="21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615183"/>
            <a:ext cx="214884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34"/>
          <p:cNvGrpSpPr/>
          <p:nvPr/>
        </p:nvGrpSpPr>
        <p:grpSpPr>
          <a:xfrm>
            <a:off x="7354823" y="0"/>
            <a:ext cx="4837176" cy="6857997"/>
            <a:chOff x="7354823" y="0"/>
            <a:chExt cx="4837176" cy="6857997"/>
          </a:xfrm>
        </p:grpSpPr>
        <p:pic>
          <p:nvPicPr>
            <p:cNvPr id="336" name="Google Shape;336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54823" y="0"/>
              <a:ext cx="4837176" cy="6857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13775" y="2528316"/>
              <a:ext cx="3320796" cy="18013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0" name="Google Shape;340;p34"/>
          <p:cNvSpPr txBox="1"/>
          <p:nvPr>
            <p:ph idx="1" type="subTitle"/>
          </p:nvPr>
        </p:nvSpPr>
        <p:spPr>
          <a:xfrm>
            <a:off x="1424950" y="2756663"/>
            <a:ext cx="4751100" cy="55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Chcesz nauczyć się więcej?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>
            <p:ph type="title"/>
          </p:nvPr>
        </p:nvSpPr>
        <p:spPr>
          <a:xfrm>
            <a:off x="1110175" y="466650"/>
            <a:ext cx="10243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ABB"/>
                </a:solidFill>
              </a:rPr>
              <a:t>Chcesz wiedzieć więcej?</a:t>
            </a:r>
            <a:endParaRPr sz="3200"/>
          </a:p>
        </p:txBody>
      </p:sp>
      <p:pic>
        <p:nvPicPr>
          <p:cNvPr id="346" name="Google Shape;3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91" y="521208"/>
            <a:ext cx="216408" cy="216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35"/>
          <p:cNvGrpSpPr/>
          <p:nvPr/>
        </p:nvGrpSpPr>
        <p:grpSpPr>
          <a:xfrm>
            <a:off x="371856" y="202692"/>
            <a:ext cx="664464" cy="672083"/>
            <a:chOff x="371856" y="202692"/>
            <a:chExt cx="664464" cy="672083"/>
          </a:xfrm>
        </p:grpSpPr>
        <p:sp>
          <p:nvSpPr>
            <p:cNvPr id="348" name="Google Shape;348;p35"/>
            <p:cNvSpPr/>
            <p:nvPr/>
          </p:nvSpPr>
          <p:spPr>
            <a:xfrm>
              <a:off x="533400" y="371855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10A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49" name="Google Shape;34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56" y="202692"/>
              <a:ext cx="216408" cy="2164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0" name="Google Shape;350;p35"/>
          <p:cNvSpPr txBox="1"/>
          <p:nvPr/>
        </p:nvSpPr>
        <p:spPr>
          <a:xfrm>
            <a:off x="391464" y="1254520"/>
            <a:ext cx="8856300" cy="23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0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Pyenv arcitle by The Real Python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0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Manage Multiple Python Versions with PyEnv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SzPts val="2500"/>
              <a:buFont typeface="Lucida Sans"/>
              <a:buNone/>
            </a:pPr>
            <a:r>
              <a:t/>
            </a:r>
            <a:endParaRPr sz="2500">
              <a:latin typeface="Poppins"/>
              <a:ea typeface="Poppins"/>
              <a:cs typeface="Poppins"/>
              <a:sym typeface="Poppin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Oraz jeszcze jedno ciekawe – wykorzystywane m.in. przez firmę Dyson.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0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Poetry – oficjalna strona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Char char="•"/>
            </a:pPr>
            <a:r>
              <a:rPr lang="en-US" sz="2000" u="sng">
                <a:solidFill>
                  <a:srgbClr val="F10A31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Poetry in Python to avoid Dependency Hell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/>
          <p:nvPr>
            <p:ph type="title"/>
          </p:nvPr>
        </p:nvSpPr>
        <p:spPr>
          <a:xfrm>
            <a:off x="3243300" y="2887450"/>
            <a:ext cx="5705400" cy="128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Dziękuję za uwagę!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A - google slides">
  <a:themeElements>
    <a:clrScheme name="infoShare Academy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20B32"/>
      </a:accent1>
      <a:accent2>
        <a:srgbClr val="5500FC"/>
      </a:accent2>
      <a:accent3>
        <a:srgbClr val="01F9FB"/>
      </a:accent3>
      <a:accent4>
        <a:srgbClr val="F20B32"/>
      </a:accent4>
      <a:accent5>
        <a:srgbClr val="5500FC"/>
      </a:accent5>
      <a:accent6>
        <a:srgbClr val="01F9FB"/>
      </a:accent6>
      <a:hlink>
        <a:srgbClr val="F20B32"/>
      </a:hlink>
      <a:folHlink>
        <a:srgbClr val="5500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